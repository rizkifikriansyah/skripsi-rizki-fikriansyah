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7" r:id="rId5"/>
    <p:sldId id="260" r:id="rId6"/>
    <p:sldId id="262" r:id="rId7"/>
    <p:sldId id="263" r:id="rId8"/>
    <p:sldId id="264" r:id="rId9"/>
    <p:sldId id="268" r:id="rId10"/>
    <p:sldId id="266" r:id="rId11"/>
  </p:sldIdLst>
  <p:sldSz cx="18288000" cy="10287000"/>
  <p:notesSz cx="6858000" cy="9144000"/>
  <p:embeddedFontLst>
    <p:embeddedFont>
      <p:font typeface="Glacial Indifference" panose="020B0604020202020204" charset="0"/>
      <p:regular r:id="rId12"/>
    </p:embeddedFont>
    <p:embeddedFont>
      <p:font typeface="Glacial Indifferen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7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11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7.sv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svg"/><Relationship Id="rId7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doi.org/10.1016/j.agsy.2017.01.023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33.svg"/><Relationship Id="rId12" Type="http://schemas.openxmlformats.org/officeDocument/2006/relationships/hyperlink" Target="https://doi.org/10.33795/eltek.v17i2.18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hyperlink" Target="https://doi.org/10.58486/jsr.v3i1.41" TargetMode="External"/><Relationship Id="rId5" Type="http://schemas.openxmlformats.org/officeDocument/2006/relationships/image" Target="../media/image31.svg"/><Relationship Id="rId10" Type="http://schemas.openxmlformats.org/officeDocument/2006/relationships/hyperlink" Target="https://doi.org/10.24843/MITE.2022.v21i01.P02" TargetMode="External"/><Relationship Id="rId4" Type="http://schemas.openxmlformats.org/officeDocument/2006/relationships/image" Target="../media/image30.png"/><Relationship Id="rId9" Type="http://schemas.openxmlformats.org/officeDocument/2006/relationships/hyperlink" Target="https://doi.org/10.35585/inspir.v9i1.2494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3156" y="6668606"/>
            <a:ext cx="4344844" cy="3618394"/>
            <a:chOff x="0" y="0"/>
            <a:chExt cx="1144321" cy="9529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4321" cy="952993"/>
            </a:xfrm>
            <a:custGeom>
              <a:avLst/>
              <a:gdLst/>
              <a:ahLst/>
              <a:cxnLst/>
              <a:rect l="l" t="t" r="r" b="b"/>
              <a:pathLst>
                <a:path w="1144321" h="952993">
                  <a:moveTo>
                    <a:pt x="0" y="0"/>
                  </a:moveTo>
                  <a:lnTo>
                    <a:pt x="1144321" y="0"/>
                  </a:lnTo>
                  <a:lnTo>
                    <a:pt x="1144321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4321" cy="9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183514" y="2901658"/>
            <a:ext cx="1327633" cy="1327633"/>
          </a:xfrm>
          <a:custGeom>
            <a:avLst/>
            <a:gdLst/>
            <a:ahLst/>
            <a:cxnLst/>
            <a:rect l="l" t="t" r="r" b="b"/>
            <a:pathLst>
              <a:path w="1327633" h="1327633">
                <a:moveTo>
                  <a:pt x="0" y="0"/>
                </a:moveTo>
                <a:lnTo>
                  <a:pt x="1327633" y="0"/>
                </a:lnTo>
                <a:lnTo>
                  <a:pt x="1327633" y="1327633"/>
                </a:lnTo>
                <a:lnTo>
                  <a:pt x="0" y="132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47072" y="-2408128"/>
            <a:ext cx="5973602" cy="5973602"/>
          </a:xfrm>
          <a:custGeom>
            <a:avLst/>
            <a:gdLst/>
            <a:ahLst/>
            <a:cxnLst/>
            <a:rect l="l" t="t" r="r" b="b"/>
            <a:pathLst>
              <a:path w="5973602" h="5973602">
                <a:moveTo>
                  <a:pt x="0" y="0"/>
                </a:moveTo>
                <a:lnTo>
                  <a:pt x="5973602" y="0"/>
                </a:lnTo>
                <a:lnTo>
                  <a:pt x="5973602" y="5973602"/>
                </a:lnTo>
                <a:lnTo>
                  <a:pt x="0" y="597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351247" y="4400741"/>
            <a:ext cx="803180" cy="742759"/>
            <a:chOff x="0" y="0"/>
            <a:chExt cx="211537" cy="1956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537" cy="195624"/>
            </a:xfrm>
            <a:custGeom>
              <a:avLst/>
              <a:gdLst/>
              <a:ahLst/>
              <a:cxnLst/>
              <a:rect l="l" t="t" r="r" b="b"/>
              <a:pathLst>
                <a:path w="211537" h="195624">
                  <a:moveTo>
                    <a:pt x="0" y="0"/>
                  </a:moveTo>
                  <a:lnTo>
                    <a:pt x="211537" y="0"/>
                  </a:lnTo>
                  <a:lnTo>
                    <a:pt x="211537" y="195624"/>
                  </a:lnTo>
                  <a:lnTo>
                    <a:pt x="0" y="195624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1537" cy="233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619741" cy="2934068"/>
            <a:chOff x="0" y="0"/>
            <a:chExt cx="163224" cy="7727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3224" cy="772759"/>
            </a:xfrm>
            <a:custGeom>
              <a:avLst/>
              <a:gdLst/>
              <a:ahLst/>
              <a:cxnLst/>
              <a:rect l="l" t="t" r="r" b="b"/>
              <a:pathLst>
                <a:path w="163224" h="772759">
                  <a:moveTo>
                    <a:pt x="0" y="0"/>
                  </a:moveTo>
                  <a:lnTo>
                    <a:pt x="163224" y="0"/>
                  </a:lnTo>
                  <a:lnTo>
                    <a:pt x="163224" y="772759"/>
                  </a:lnTo>
                  <a:lnTo>
                    <a:pt x="0" y="772759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63224" cy="810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2933707"/>
            <a:ext cx="619741" cy="1004046"/>
            <a:chOff x="0" y="0"/>
            <a:chExt cx="163224" cy="264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224" cy="264440"/>
            </a:xfrm>
            <a:custGeom>
              <a:avLst/>
              <a:gdLst/>
              <a:ahLst/>
              <a:cxnLst/>
              <a:rect l="l" t="t" r="r" b="b"/>
              <a:pathLst>
                <a:path w="163224" h="264440">
                  <a:moveTo>
                    <a:pt x="0" y="0"/>
                  </a:moveTo>
                  <a:lnTo>
                    <a:pt x="163224" y="0"/>
                  </a:lnTo>
                  <a:lnTo>
                    <a:pt x="163224" y="264440"/>
                  </a:lnTo>
                  <a:lnTo>
                    <a:pt x="0" y="26444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3224" cy="302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6668606"/>
            <a:ext cx="13943156" cy="3618394"/>
            <a:chOff x="0" y="0"/>
            <a:chExt cx="3672271" cy="9529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72272" cy="952993"/>
            </a:xfrm>
            <a:custGeom>
              <a:avLst/>
              <a:gdLst/>
              <a:ahLst/>
              <a:cxnLst/>
              <a:rect l="l" t="t" r="r" b="b"/>
              <a:pathLst>
                <a:path w="3672272" h="952993">
                  <a:moveTo>
                    <a:pt x="0" y="0"/>
                  </a:moveTo>
                  <a:lnTo>
                    <a:pt x="3672272" y="0"/>
                  </a:lnTo>
                  <a:lnTo>
                    <a:pt x="3672272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672271" cy="9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5534530" y="7239477"/>
            <a:ext cx="1297968" cy="1224033"/>
          </a:xfrm>
          <a:custGeom>
            <a:avLst/>
            <a:gdLst/>
            <a:ahLst/>
            <a:cxnLst/>
            <a:rect l="l" t="t" r="r" b="b"/>
            <a:pathLst>
              <a:path w="1297968" h="1224033">
                <a:moveTo>
                  <a:pt x="0" y="0"/>
                </a:moveTo>
                <a:lnTo>
                  <a:pt x="1297968" y="0"/>
                </a:lnTo>
                <a:lnTo>
                  <a:pt x="1297968" y="1224033"/>
                </a:lnTo>
                <a:lnTo>
                  <a:pt x="0" y="1224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67885" y="2816978"/>
            <a:ext cx="12927906" cy="224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PENGEMBANGAN SISTEM SMART FARMING BERBASIS IOT MENGGUNAKAN ESP32 UNTUK TRACKING JALUR HEWAN TERNAK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12912" y="8725253"/>
            <a:ext cx="334120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spc="12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 MUHAMMADIYAH BIMA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67885" y="1341590"/>
            <a:ext cx="871865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439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19741" y="7132148"/>
            <a:ext cx="143103" cy="2691310"/>
            <a:chOff x="0" y="0"/>
            <a:chExt cx="37690" cy="7088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690" cy="708822"/>
            </a:xfrm>
            <a:custGeom>
              <a:avLst/>
              <a:gdLst/>
              <a:ahLst/>
              <a:cxnLst/>
              <a:rect l="l" t="t" r="r" b="b"/>
              <a:pathLst>
                <a:path w="37690" h="708822">
                  <a:moveTo>
                    <a:pt x="0" y="0"/>
                  </a:moveTo>
                  <a:lnTo>
                    <a:pt x="37690" y="0"/>
                  </a:lnTo>
                  <a:lnTo>
                    <a:pt x="37690" y="708822"/>
                  </a:lnTo>
                  <a:lnTo>
                    <a:pt x="0" y="708822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7690" cy="746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99894" y="8664929"/>
            <a:ext cx="6467079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PROGRAM STUDI ILMU KOMPUTER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9894" y="7423419"/>
            <a:ext cx="505688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RIZKI FIKRIANSYAH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9894" y="8090169"/>
            <a:ext cx="375542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NIM : B02220117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9894" y="9239603"/>
            <a:ext cx="1455625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2025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79173" y="7803868"/>
            <a:ext cx="762950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Dosen Pembimbing I  : Siti Mutmainnah, M.Kom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188986" y="7132148"/>
            <a:ext cx="143103" cy="2691310"/>
            <a:chOff x="0" y="0"/>
            <a:chExt cx="37690" cy="70882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7690" cy="708822"/>
            </a:xfrm>
            <a:custGeom>
              <a:avLst/>
              <a:gdLst/>
              <a:ahLst/>
              <a:cxnLst/>
              <a:rect l="l" t="t" r="r" b="b"/>
              <a:pathLst>
                <a:path w="37690" h="708822">
                  <a:moveTo>
                    <a:pt x="0" y="0"/>
                  </a:moveTo>
                  <a:lnTo>
                    <a:pt x="37690" y="0"/>
                  </a:lnTo>
                  <a:lnTo>
                    <a:pt x="37690" y="708822"/>
                  </a:lnTo>
                  <a:lnTo>
                    <a:pt x="0" y="708822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7690" cy="746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588698" y="8345245"/>
            <a:ext cx="762950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Dosen Pembimbing II : Ir. Dahlan, S.T., M.Kom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id="6" name="Freeform 6"/>
          <p:cNvSpPr/>
          <p:nvPr/>
        </p:nvSpPr>
        <p:spPr>
          <a:xfrm>
            <a:off x="3695631" y="8016035"/>
            <a:ext cx="3905319" cy="4114800"/>
          </a:xfrm>
          <a:custGeom>
            <a:avLst/>
            <a:gdLst/>
            <a:ahLst/>
            <a:cxnLst/>
            <a:rect l="l" t="t" r="r" b="b"/>
            <a:pathLst>
              <a:path w="3905319" h="4114800">
                <a:moveTo>
                  <a:pt x="0" y="0"/>
                </a:moveTo>
                <a:lnTo>
                  <a:pt x="3905319" y="0"/>
                </a:lnTo>
                <a:lnTo>
                  <a:pt x="3905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182607" y="758341"/>
            <a:ext cx="3675104" cy="3675104"/>
          </a:xfrm>
          <a:custGeom>
            <a:avLst/>
            <a:gdLst/>
            <a:ahLst/>
            <a:cxnLst/>
            <a:rect l="l" t="t" r="r" b="b"/>
            <a:pathLst>
              <a:path w="3675104" h="3675104">
                <a:moveTo>
                  <a:pt x="0" y="0"/>
                </a:moveTo>
                <a:lnTo>
                  <a:pt x="3675104" y="0"/>
                </a:lnTo>
                <a:lnTo>
                  <a:pt x="3675104" y="3675104"/>
                </a:lnTo>
                <a:lnTo>
                  <a:pt x="0" y="3675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484758" y="6805162"/>
            <a:ext cx="1210872" cy="1210872"/>
          </a:xfrm>
          <a:custGeom>
            <a:avLst/>
            <a:gdLst/>
            <a:ahLst/>
            <a:cxnLst/>
            <a:rect l="l" t="t" r="r" b="b"/>
            <a:pathLst>
              <a:path w="1210872" h="1210872">
                <a:moveTo>
                  <a:pt x="0" y="0"/>
                </a:moveTo>
                <a:lnTo>
                  <a:pt x="1210873" y="0"/>
                </a:lnTo>
                <a:lnTo>
                  <a:pt x="1210873" y="1210873"/>
                </a:lnTo>
                <a:lnTo>
                  <a:pt x="0" y="12108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687902" y="1507331"/>
            <a:ext cx="8256573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69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Latar </a:t>
            </a:r>
            <a:r>
              <a:rPr lang="en-US" sz="69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Belakang</a:t>
            </a:r>
            <a:endParaRPr lang="en-US" sz="69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20" name="TextBox 20"/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C6B151-E005-A66D-2D20-041AE06996BB}"/>
              </a:ext>
            </a:extLst>
          </p:cNvPr>
          <p:cNvGrpSpPr/>
          <p:nvPr/>
        </p:nvGrpSpPr>
        <p:grpSpPr>
          <a:xfrm>
            <a:off x="2699264" y="3285329"/>
            <a:ext cx="2419315" cy="1771803"/>
            <a:chOff x="1724042" y="2914497"/>
            <a:chExt cx="2419315" cy="177180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7AD0A24-DAC7-55D7-DC60-C8DF64F962A9}"/>
                </a:ext>
              </a:extLst>
            </p:cNvPr>
            <p:cNvSpPr/>
            <p:nvPr/>
          </p:nvSpPr>
          <p:spPr>
            <a:xfrm>
              <a:off x="2057400" y="2914497"/>
              <a:ext cx="1752600" cy="1771803"/>
            </a:xfrm>
            <a:prstGeom prst="ellipse">
              <a:avLst/>
            </a:prstGeom>
            <a:solidFill>
              <a:srgbClr val="BFDDD2"/>
            </a:solidFill>
            <a:ln>
              <a:solidFill>
                <a:srgbClr val="BFDD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4042" y="3435446"/>
              <a:ext cx="2419315" cy="4905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sz="2400" dirty="0" err="1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Peternakan</a:t>
              </a:r>
              <a:endPara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3187D0-8F6B-48C3-675A-3E9DE6FFF9A2}"/>
              </a:ext>
            </a:extLst>
          </p:cNvPr>
          <p:cNvGrpSpPr/>
          <p:nvPr/>
        </p:nvGrpSpPr>
        <p:grpSpPr>
          <a:xfrm>
            <a:off x="5118579" y="5455931"/>
            <a:ext cx="2419315" cy="1771803"/>
            <a:chOff x="1724042" y="2914497"/>
            <a:chExt cx="2419315" cy="17718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5E1922D-56DE-3EC9-F54F-C2FFE207EB9F}"/>
                </a:ext>
              </a:extLst>
            </p:cNvPr>
            <p:cNvSpPr/>
            <p:nvPr/>
          </p:nvSpPr>
          <p:spPr>
            <a:xfrm>
              <a:off x="2057400" y="2914497"/>
              <a:ext cx="1752600" cy="1771803"/>
            </a:xfrm>
            <a:prstGeom prst="ellipse">
              <a:avLst/>
            </a:prstGeom>
            <a:solidFill>
              <a:srgbClr val="BFDDD2"/>
            </a:solidFill>
            <a:ln>
              <a:solidFill>
                <a:srgbClr val="BFDD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24E4AE50-9020-7A58-921F-7A209F53FA28}"/>
                </a:ext>
              </a:extLst>
            </p:cNvPr>
            <p:cNvSpPr txBox="1"/>
            <p:nvPr/>
          </p:nvSpPr>
          <p:spPr>
            <a:xfrm>
              <a:off x="1724042" y="3435446"/>
              <a:ext cx="2419315" cy="4905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sz="2400" dirty="0" err="1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Ternak</a:t>
              </a: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Bebas</a:t>
              </a:r>
              <a:endParaRPr lang="en-US" sz="24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E0E192-680D-6951-EA96-3BC9983ECA26}"/>
              </a:ext>
            </a:extLst>
          </p:cNvPr>
          <p:cNvGrpSpPr/>
          <p:nvPr/>
        </p:nvGrpSpPr>
        <p:grpSpPr>
          <a:xfrm>
            <a:off x="7897921" y="3234560"/>
            <a:ext cx="2419315" cy="1771803"/>
            <a:chOff x="1724042" y="2914497"/>
            <a:chExt cx="2419315" cy="177180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AFB1B4E-6450-DD72-3F6E-CF122EAE4C84}"/>
                </a:ext>
              </a:extLst>
            </p:cNvPr>
            <p:cNvSpPr/>
            <p:nvPr/>
          </p:nvSpPr>
          <p:spPr>
            <a:xfrm>
              <a:off x="2057400" y="2914497"/>
              <a:ext cx="1752600" cy="1771803"/>
            </a:xfrm>
            <a:prstGeom prst="ellipse">
              <a:avLst/>
            </a:prstGeom>
            <a:solidFill>
              <a:srgbClr val="BFDDD2"/>
            </a:solidFill>
            <a:ln>
              <a:solidFill>
                <a:srgbClr val="BFDD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AA77ADFA-E0C1-4478-E1D6-5213FC2E51D5}"/>
                </a:ext>
              </a:extLst>
            </p:cNvPr>
            <p:cNvSpPr txBox="1"/>
            <p:nvPr/>
          </p:nvSpPr>
          <p:spPr>
            <a:xfrm>
              <a:off x="1724042" y="3213069"/>
              <a:ext cx="2419315" cy="10419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Smart </a:t>
              </a:r>
            </a:p>
            <a:p>
              <a:pPr algn="ctr">
                <a:lnSpc>
                  <a:spcPts val="43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Farming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8CA9C6-96CA-24A4-CEF3-BE3B1848EFBC}"/>
              </a:ext>
            </a:extLst>
          </p:cNvPr>
          <p:cNvGrpSpPr/>
          <p:nvPr/>
        </p:nvGrpSpPr>
        <p:grpSpPr>
          <a:xfrm>
            <a:off x="10750108" y="5581497"/>
            <a:ext cx="2419315" cy="1771803"/>
            <a:chOff x="1724042" y="2914497"/>
            <a:chExt cx="2419315" cy="177180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DFDBC89-1BD1-1321-FB18-9B871809A876}"/>
                </a:ext>
              </a:extLst>
            </p:cNvPr>
            <p:cNvSpPr/>
            <p:nvPr/>
          </p:nvSpPr>
          <p:spPr>
            <a:xfrm>
              <a:off x="2057400" y="2914497"/>
              <a:ext cx="1752600" cy="1771803"/>
            </a:xfrm>
            <a:prstGeom prst="ellipse">
              <a:avLst/>
            </a:prstGeom>
            <a:solidFill>
              <a:srgbClr val="BFDDD2"/>
            </a:solidFill>
            <a:ln>
              <a:solidFill>
                <a:srgbClr val="BFDD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BC90F559-E42F-896B-2430-85398EA3D3FB}"/>
                </a:ext>
              </a:extLst>
            </p:cNvPr>
            <p:cNvSpPr txBox="1"/>
            <p:nvPr/>
          </p:nvSpPr>
          <p:spPr>
            <a:xfrm>
              <a:off x="1724042" y="3217364"/>
              <a:ext cx="2419315" cy="10419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Internet of </a:t>
              </a:r>
            </a:p>
            <a:p>
              <a:pPr algn="ctr">
                <a:lnSpc>
                  <a:spcPts val="43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Things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A763D3-E211-B780-A1DE-1438A8C6F51A}"/>
              </a:ext>
            </a:extLst>
          </p:cNvPr>
          <p:cNvGrpSpPr/>
          <p:nvPr/>
        </p:nvGrpSpPr>
        <p:grpSpPr>
          <a:xfrm>
            <a:off x="13429935" y="3285329"/>
            <a:ext cx="2419315" cy="1771803"/>
            <a:chOff x="1724042" y="2914497"/>
            <a:chExt cx="2419315" cy="1771803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3B86319-8B8E-D41E-0DFE-F45F78B02C2B}"/>
                </a:ext>
              </a:extLst>
            </p:cNvPr>
            <p:cNvSpPr/>
            <p:nvPr/>
          </p:nvSpPr>
          <p:spPr>
            <a:xfrm>
              <a:off x="2057400" y="2914497"/>
              <a:ext cx="1752600" cy="1771803"/>
            </a:xfrm>
            <a:prstGeom prst="ellipse">
              <a:avLst/>
            </a:prstGeom>
            <a:solidFill>
              <a:srgbClr val="BFDDD2"/>
            </a:solidFill>
            <a:ln>
              <a:solidFill>
                <a:srgbClr val="BFDD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1EE9680D-D474-5996-468E-B7595CBF9A99}"/>
                </a:ext>
              </a:extLst>
            </p:cNvPr>
            <p:cNvSpPr txBox="1"/>
            <p:nvPr/>
          </p:nvSpPr>
          <p:spPr>
            <a:xfrm>
              <a:off x="1724042" y="3217364"/>
              <a:ext cx="2419315" cy="10419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Research </a:t>
              </a:r>
            </a:p>
            <a:p>
              <a:pPr algn="ctr">
                <a:lnSpc>
                  <a:spcPts val="43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Gap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2049" y="6833950"/>
            <a:ext cx="5973602" cy="5973602"/>
          </a:xfrm>
          <a:custGeom>
            <a:avLst/>
            <a:gdLst/>
            <a:ahLst/>
            <a:cxnLst/>
            <a:rect l="l" t="t" r="r" b="b"/>
            <a:pathLst>
              <a:path w="5973602" h="5973602">
                <a:moveTo>
                  <a:pt x="0" y="0"/>
                </a:moveTo>
                <a:lnTo>
                  <a:pt x="5973601" y="0"/>
                </a:lnTo>
                <a:lnTo>
                  <a:pt x="5973601" y="5973602"/>
                </a:lnTo>
                <a:lnTo>
                  <a:pt x="0" y="5973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7181270" y="5097085"/>
            <a:ext cx="11329315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7181270" y="8066103"/>
            <a:ext cx="11329315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4138092" y="6650005"/>
            <a:ext cx="1210872" cy="1210872"/>
          </a:xfrm>
          <a:custGeom>
            <a:avLst/>
            <a:gdLst/>
            <a:ahLst/>
            <a:cxnLst/>
            <a:rect l="l" t="t" r="r" b="b"/>
            <a:pathLst>
              <a:path w="1210872" h="1210872">
                <a:moveTo>
                  <a:pt x="0" y="0"/>
                </a:moveTo>
                <a:lnTo>
                  <a:pt x="1210872" y="0"/>
                </a:lnTo>
                <a:lnTo>
                  <a:pt x="1210872" y="1210872"/>
                </a:lnTo>
                <a:lnTo>
                  <a:pt x="0" y="1210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16893853" y="567841"/>
            <a:ext cx="1082627" cy="1082627"/>
          </a:xfrm>
          <a:custGeom>
            <a:avLst/>
            <a:gdLst/>
            <a:ahLst/>
            <a:cxnLst/>
            <a:rect l="l" t="t" r="r" b="b"/>
            <a:pathLst>
              <a:path w="1082627" h="1082627">
                <a:moveTo>
                  <a:pt x="0" y="0"/>
                </a:moveTo>
                <a:lnTo>
                  <a:pt x="1082626" y="0"/>
                </a:lnTo>
                <a:lnTo>
                  <a:pt x="1082626" y="1082627"/>
                </a:lnTo>
                <a:lnTo>
                  <a:pt x="0" y="1082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17951" y="2801438"/>
            <a:ext cx="4727341" cy="24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Rumusan</a:t>
            </a:r>
          </a:p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Masalah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89315" y="2746326"/>
            <a:ext cx="8873295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merancang sistem smart farming berbasis IoT menggunakan mikrokontroler ESP32 yang mampu melakukan pelacakan jalur pergerakan hewan ternak secara real-time?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7667" y="2379613"/>
            <a:ext cx="938336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9315" y="2135172"/>
            <a:ext cx="34896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Rumusan Satu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89315" y="5157399"/>
            <a:ext cx="34896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Rumusan Dua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89315" y="5763824"/>
            <a:ext cx="8873295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Bagaimana efektivitas sistem dalam memberikan informasi real-time yang memudahkan peternak dalam mengelola dan memantau hewan ternak dari jarak jauh?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79258" y="5339008"/>
            <a:ext cx="1096746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24" name="TextBox 24"/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0B1A-F570-1F8C-6961-F98F12E9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46E58D-4AB1-9248-AB24-C3F61B477FD6}"/>
              </a:ext>
            </a:extLst>
          </p:cNvPr>
          <p:cNvSpPr/>
          <p:nvPr/>
        </p:nvSpPr>
        <p:spPr>
          <a:xfrm>
            <a:off x="-2217971" y="6834072"/>
            <a:ext cx="5973602" cy="5973602"/>
          </a:xfrm>
          <a:custGeom>
            <a:avLst/>
            <a:gdLst/>
            <a:ahLst/>
            <a:cxnLst/>
            <a:rect l="l" t="t" r="r" b="b"/>
            <a:pathLst>
              <a:path w="5973602" h="5973602">
                <a:moveTo>
                  <a:pt x="0" y="0"/>
                </a:moveTo>
                <a:lnTo>
                  <a:pt x="5973601" y="0"/>
                </a:lnTo>
                <a:lnTo>
                  <a:pt x="5973601" y="5973602"/>
                </a:lnTo>
                <a:lnTo>
                  <a:pt x="0" y="5973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3076DF1-4ABA-7941-1DFB-A91946BB906D}"/>
              </a:ext>
            </a:extLst>
          </p:cNvPr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4D0FFB5-9F7C-F0EF-7773-7C49BCDD3430}"/>
                </a:ext>
              </a:extLst>
            </p:cNvPr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D5A678-12C6-7CE4-C2DF-F5B19D8A2E8E}"/>
                </a:ext>
              </a:extLst>
            </p:cNvPr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0EE60A6-AC5D-EED4-9CD0-6E04BA1B9E4D}"/>
              </a:ext>
            </a:extLst>
          </p:cNvPr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499190-00F7-823A-DAB5-0C3FCE481247}"/>
                </a:ext>
              </a:extLst>
            </p:cNvPr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EA61094-E424-44F3-B6A3-6AB3F3C93823}"/>
                </a:ext>
              </a:extLst>
            </p:cNvPr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>
            <a:extLst>
              <a:ext uri="{FF2B5EF4-FFF2-40B4-BE49-F238E27FC236}">
                <a16:creationId xmlns:a16="http://schemas.microsoft.com/office/drawing/2014/main" id="{47956F2F-E272-BF5A-B24C-F6309648EBD6}"/>
              </a:ext>
            </a:extLst>
          </p:cNvPr>
          <p:cNvSpPr/>
          <p:nvPr/>
        </p:nvSpPr>
        <p:spPr>
          <a:xfrm>
            <a:off x="7181270" y="8066103"/>
            <a:ext cx="11329315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64725C0-8709-3A3E-9ABE-9CB98FA74F8B}"/>
              </a:ext>
            </a:extLst>
          </p:cNvPr>
          <p:cNvSpPr/>
          <p:nvPr/>
        </p:nvSpPr>
        <p:spPr>
          <a:xfrm>
            <a:off x="6080686" y="8610001"/>
            <a:ext cx="1210872" cy="1210872"/>
          </a:xfrm>
          <a:custGeom>
            <a:avLst/>
            <a:gdLst/>
            <a:ahLst/>
            <a:cxnLst/>
            <a:rect l="l" t="t" r="r" b="b"/>
            <a:pathLst>
              <a:path w="1210872" h="1210872">
                <a:moveTo>
                  <a:pt x="0" y="0"/>
                </a:moveTo>
                <a:lnTo>
                  <a:pt x="1210872" y="0"/>
                </a:lnTo>
                <a:lnTo>
                  <a:pt x="1210872" y="1210872"/>
                </a:lnTo>
                <a:lnTo>
                  <a:pt x="0" y="1210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AAE42AC-BFB1-C3D8-D0DB-3C48AC458E27}"/>
              </a:ext>
            </a:extLst>
          </p:cNvPr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AC2FD0E-328D-BDE9-405D-1E92CB02E8B6}"/>
              </a:ext>
            </a:extLst>
          </p:cNvPr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17B1028-AF1F-6A42-D8F5-FDA264167C66}"/>
              </a:ext>
            </a:extLst>
          </p:cNvPr>
          <p:cNvSpPr/>
          <p:nvPr/>
        </p:nvSpPr>
        <p:spPr>
          <a:xfrm>
            <a:off x="16893853" y="567841"/>
            <a:ext cx="1082627" cy="1082627"/>
          </a:xfrm>
          <a:custGeom>
            <a:avLst/>
            <a:gdLst/>
            <a:ahLst/>
            <a:cxnLst/>
            <a:rect l="l" t="t" r="r" b="b"/>
            <a:pathLst>
              <a:path w="1082627" h="1082627">
                <a:moveTo>
                  <a:pt x="0" y="0"/>
                </a:moveTo>
                <a:lnTo>
                  <a:pt x="1082626" y="0"/>
                </a:lnTo>
                <a:lnTo>
                  <a:pt x="1082626" y="1082627"/>
                </a:lnTo>
                <a:lnTo>
                  <a:pt x="0" y="1082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BD239E0-7F08-737E-16C6-44A0E3A2B7B6}"/>
              </a:ext>
            </a:extLst>
          </p:cNvPr>
          <p:cNvSpPr txBox="1"/>
          <p:nvPr/>
        </p:nvSpPr>
        <p:spPr>
          <a:xfrm>
            <a:off x="5140476" y="1842914"/>
            <a:ext cx="8007049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Batasan </a:t>
            </a:r>
            <a:r>
              <a:rPr lang="en-US" sz="69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Masalah</a:t>
            </a:r>
            <a:endParaRPr lang="en-US" sz="69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661B543-76C2-2F43-D3B8-48AEEBA5F075}"/>
              </a:ext>
            </a:extLst>
          </p:cNvPr>
          <p:cNvSpPr txBox="1"/>
          <p:nvPr/>
        </p:nvSpPr>
        <p:spPr>
          <a:xfrm>
            <a:off x="2542683" y="3308268"/>
            <a:ext cx="13202634" cy="4574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menggunakan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ESP32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sebagai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mikrokontroler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utama</a:t>
            </a: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Perangkat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GPS yang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digunakan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adalah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GPS NEO-6M.</a:t>
            </a: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tracking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jalur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hewan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ternak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hanya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dilakukan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dalam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area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terbuka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yang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telah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ditentukan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dan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dipetakan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sebelumnya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misalnya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lahan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padang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rumput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atau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area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penggembalaan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dengan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batas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tertentu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).</a:t>
            </a: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hanya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menggunakan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satu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jenis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hewan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ternak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sebagai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objek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utama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yaitu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hewan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sapi</a:t>
            </a: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Dashboard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pengiriman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data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menggunakan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aplikasi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Telegram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0A99CF8-C75F-832F-7AD2-754AA4371A77}"/>
              </a:ext>
            </a:extLst>
          </p:cNvPr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7A71CD2-393C-C090-85D6-4FF077E4AA5D}"/>
              </a:ext>
            </a:extLst>
          </p:cNvPr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89D9CE3-F8CE-DEA6-4E72-A562D88FFC99}"/>
                </a:ext>
              </a:extLst>
            </p:cNvPr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58DD7AF-430C-BA5D-572B-9D1B0951C802}"/>
                </a:ext>
              </a:extLst>
            </p:cNvPr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6974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421953"/>
            <a:ext cx="18288000" cy="4865047"/>
            <a:chOff x="0" y="0"/>
            <a:chExt cx="4816593" cy="1281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281329"/>
            </a:xfrm>
            <a:custGeom>
              <a:avLst/>
              <a:gdLst/>
              <a:ahLst/>
              <a:cxnLst/>
              <a:rect l="l" t="t" r="r" b="b"/>
              <a:pathLst>
                <a:path w="4816592" h="1281329">
                  <a:moveTo>
                    <a:pt x="0" y="0"/>
                  </a:moveTo>
                  <a:lnTo>
                    <a:pt x="4816592" y="0"/>
                  </a:lnTo>
                  <a:lnTo>
                    <a:pt x="4816592" y="1281329"/>
                  </a:lnTo>
                  <a:lnTo>
                    <a:pt x="0" y="1281329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</p:txBody>
      </p:sp>
      <p:sp>
        <p:nvSpPr>
          <p:cNvPr id="9" name="AutoShape 9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BFDD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632097" y="8513811"/>
            <a:ext cx="908854" cy="908854"/>
          </a:xfrm>
          <a:custGeom>
            <a:avLst/>
            <a:gdLst/>
            <a:ahLst/>
            <a:cxnLst/>
            <a:rect l="l" t="t" r="r" b="b"/>
            <a:pathLst>
              <a:path w="908854" h="908854">
                <a:moveTo>
                  <a:pt x="0" y="0"/>
                </a:moveTo>
                <a:lnTo>
                  <a:pt x="908854" y="0"/>
                </a:lnTo>
                <a:lnTo>
                  <a:pt x="908854" y="908855"/>
                </a:lnTo>
                <a:lnTo>
                  <a:pt x="0" y="90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89422" y="598254"/>
            <a:ext cx="3659497" cy="3659497"/>
          </a:xfrm>
          <a:custGeom>
            <a:avLst/>
            <a:gdLst/>
            <a:ahLst/>
            <a:cxnLst/>
            <a:rect l="l" t="t" r="r" b="b"/>
            <a:pathLst>
              <a:path w="3659497" h="3659497">
                <a:moveTo>
                  <a:pt x="0" y="0"/>
                </a:moveTo>
                <a:lnTo>
                  <a:pt x="3659496" y="0"/>
                </a:lnTo>
                <a:lnTo>
                  <a:pt x="3659496" y="3659497"/>
                </a:lnTo>
                <a:lnTo>
                  <a:pt x="0" y="3659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40951" y="9422666"/>
            <a:ext cx="2906260" cy="1659483"/>
          </a:xfrm>
          <a:custGeom>
            <a:avLst/>
            <a:gdLst/>
            <a:ahLst/>
            <a:cxnLst/>
            <a:rect l="l" t="t" r="r" b="b"/>
            <a:pathLst>
              <a:path w="2906260" h="1659483">
                <a:moveTo>
                  <a:pt x="0" y="0"/>
                </a:moveTo>
                <a:lnTo>
                  <a:pt x="2906260" y="0"/>
                </a:lnTo>
                <a:lnTo>
                  <a:pt x="2906260" y="1659482"/>
                </a:lnTo>
                <a:lnTo>
                  <a:pt x="0" y="1659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84590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718528" y="1490623"/>
            <a:ext cx="885094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Tujuan Penelitian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05341" y="2924809"/>
            <a:ext cx="6783219" cy="5514595"/>
            <a:chOff x="0" y="0"/>
            <a:chExt cx="1786527" cy="1452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86527" cy="1452404"/>
            </a:xfrm>
            <a:custGeom>
              <a:avLst/>
              <a:gdLst/>
              <a:ahLst/>
              <a:cxnLst/>
              <a:rect l="l" t="t" r="r" b="b"/>
              <a:pathLst>
                <a:path w="1786527" h="1452404">
                  <a:moveTo>
                    <a:pt x="0" y="0"/>
                  </a:moveTo>
                  <a:lnTo>
                    <a:pt x="1786527" y="0"/>
                  </a:lnTo>
                  <a:lnTo>
                    <a:pt x="1786527" y="1452404"/>
                  </a:lnTo>
                  <a:lnTo>
                    <a:pt x="0" y="1452404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86527" cy="1490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788773" y="4667072"/>
            <a:ext cx="5416355" cy="278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Memberikan informasi lokasi hewan ternak secara akurat menggunakan teknologi GPS yang terintegrasi dengan ESP32.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76263" y="3151066"/>
            <a:ext cx="2041375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12178" y="4015937"/>
            <a:ext cx="43695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Tujuan Satu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22" name="TextBox 22"/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534026" y="2924809"/>
            <a:ext cx="6783219" cy="5514595"/>
            <a:chOff x="0" y="0"/>
            <a:chExt cx="1786527" cy="14524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86527" cy="1452404"/>
            </a:xfrm>
            <a:custGeom>
              <a:avLst/>
              <a:gdLst/>
              <a:ahLst/>
              <a:cxnLst/>
              <a:rect l="l" t="t" r="r" b="b"/>
              <a:pathLst>
                <a:path w="1786527" h="1452404">
                  <a:moveTo>
                    <a:pt x="0" y="0"/>
                  </a:moveTo>
                  <a:lnTo>
                    <a:pt x="1786527" y="0"/>
                  </a:lnTo>
                  <a:lnTo>
                    <a:pt x="1786527" y="1452404"/>
                  </a:lnTo>
                  <a:lnTo>
                    <a:pt x="0" y="1452404"/>
                  </a:lnTo>
                  <a:close/>
                </a:path>
              </a:pathLst>
            </a:custGeom>
            <a:solidFill>
              <a:srgbClr val="FFEEC4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86527" cy="1490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875742" y="4667072"/>
            <a:ext cx="6099787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Diharapkan meningkatkan efektivitas pengelolaan dan pemantauan hewan ternak melalui penyediaan informasi real-time yang akurat dan mudah diakses oleh peternak dari jarak jauh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04948" y="3151066"/>
            <a:ext cx="2041375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40863" y="4015937"/>
            <a:ext cx="43695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Tujuan Dua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26659" y="7028511"/>
            <a:ext cx="4921456" cy="3986379"/>
          </a:xfrm>
          <a:custGeom>
            <a:avLst/>
            <a:gdLst/>
            <a:ahLst/>
            <a:cxnLst/>
            <a:rect l="l" t="t" r="r" b="b"/>
            <a:pathLst>
              <a:path w="4921456" h="3986379">
                <a:moveTo>
                  <a:pt x="0" y="0"/>
                </a:moveTo>
                <a:lnTo>
                  <a:pt x="4921455" y="0"/>
                </a:lnTo>
                <a:lnTo>
                  <a:pt x="4921455" y="3986379"/>
                </a:lnTo>
                <a:lnTo>
                  <a:pt x="0" y="398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364232" y="-2136727"/>
            <a:ext cx="5790136" cy="5790136"/>
          </a:xfrm>
          <a:custGeom>
            <a:avLst/>
            <a:gdLst/>
            <a:ahLst/>
            <a:cxnLst/>
            <a:rect l="l" t="t" r="r" b="b"/>
            <a:pathLst>
              <a:path w="5790136" h="5790136">
                <a:moveTo>
                  <a:pt x="0" y="0"/>
                </a:moveTo>
                <a:lnTo>
                  <a:pt x="5790136" y="0"/>
                </a:lnTo>
                <a:lnTo>
                  <a:pt x="5790136" y="5790136"/>
                </a:lnTo>
                <a:lnTo>
                  <a:pt x="0" y="5790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4481739" y="1467416"/>
            <a:ext cx="932452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 Terdahulu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15" name="TextBox 15"/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604684" y="2770653"/>
            <a:ext cx="4064331" cy="2995223"/>
            <a:chOff x="0" y="0"/>
            <a:chExt cx="1149029" cy="8467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9029" cy="846781"/>
            </a:xfrm>
            <a:custGeom>
              <a:avLst/>
              <a:gdLst/>
              <a:ahLst/>
              <a:cxnLst/>
              <a:rect l="l" t="t" r="r" b="b"/>
              <a:pathLst>
                <a:path w="1149029" h="846781">
                  <a:moveTo>
                    <a:pt x="0" y="0"/>
                  </a:moveTo>
                  <a:lnTo>
                    <a:pt x="1149029" y="0"/>
                  </a:lnTo>
                  <a:lnTo>
                    <a:pt x="1149029" y="846781"/>
                  </a:lnTo>
                  <a:lnTo>
                    <a:pt x="0" y="846781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49029" cy="884881"/>
            </a:xfrm>
            <a:prstGeom prst="rect">
              <a:avLst/>
            </a:prstGeom>
          </p:spPr>
          <p:txBody>
            <a:bodyPr lIns="47326" tIns="47326" rIns="47326" bIns="4732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80557" y="3505016"/>
            <a:ext cx="3912586" cy="145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2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 Cerdas pemantau hewan ternak berbasis IoT (Wibowo et al., 2019)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10976" y="2770653"/>
            <a:ext cx="8572340" cy="2995223"/>
            <a:chOff x="0" y="0"/>
            <a:chExt cx="11429786" cy="399363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419109" cy="3993630"/>
              <a:chOff x="0" y="0"/>
              <a:chExt cx="1149029" cy="84678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49029" cy="846781"/>
              </a:xfrm>
              <a:custGeom>
                <a:avLst/>
                <a:gdLst/>
                <a:ahLst/>
                <a:cxnLst/>
                <a:rect l="l" t="t" r="r" b="b"/>
                <a:pathLst>
                  <a:path w="1149029" h="846781">
                    <a:moveTo>
                      <a:pt x="0" y="0"/>
                    </a:moveTo>
                    <a:lnTo>
                      <a:pt x="1149029" y="0"/>
                    </a:lnTo>
                    <a:lnTo>
                      <a:pt x="1149029" y="846781"/>
                    </a:lnTo>
                    <a:lnTo>
                      <a:pt x="0" y="846781"/>
                    </a:lnTo>
                    <a:close/>
                  </a:path>
                </a:pathLst>
              </a:custGeom>
              <a:solidFill>
                <a:srgbClr val="BFDDD2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149029" cy="884881"/>
              </a:xfrm>
              <a:prstGeom prst="rect">
                <a:avLst/>
              </a:prstGeom>
            </p:spPr>
            <p:txBody>
              <a:bodyPr lIns="47326" tIns="47326" rIns="47326" bIns="4732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1164" y="350651"/>
              <a:ext cx="5216781" cy="3225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2"/>
                </a:lnSpc>
              </a:pPr>
              <a:r>
                <a:rPr lang="en-US" sz="2794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Sistem Pelacak Lokasi Sapi dengan Sistem Komunikasi LoRa (Angriawan &amp; Anugraha, 2019)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010678" y="0"/>
              <a:ext cx="5419109" cy="3993630"/>
              <a:chOff x="0" y="0"/>
              <a:chExt cx="1149029" cy="84678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49029" cy="846781"/>
              </a:xfrm>
              <a:custGeom>
                <a:avLst/>
                <a:gdLst/>
                <a:ahLst/>
                <a:cxnLst/>
                <a:rect l="l" t="t" r="r" b="b"/>
                <a:pathLst>
                  <a:path w="1149029" h="846781">
                    <a:moveTo>
                      <a:pt x="0" y="0"/>
                    </a:moveTo>
                    <a:lnTo>
                      <a:pt x="1149029" y="0"/>
                    </a:lnTo>
                    <a:lnTo>
                      <a:pt x="1149029" y="846781"/>
                    </a:lnTo>
                    <a:lnTo>
                      <a:pt x="0" y="846781"/>
                    </a:lnTo>
                    <a:close/>
                  </a:path>
                </a:pathLst>
              </a:custGeom>
              <a:solidFill>
                <a:srgbClr val="BFDDD2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149029" cy="884881"/>
              </a:xfrm>
              <a:prstGeom prst="rect">
                <a:avLst/>
              </a:prstGeom>
            </p:spPr>
            <p:txBody>
              <a:bodyPr lIns="47326" tIns="47326" rIns="47326" bIns="4732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6111841" y="1001377"/>
              <a:ext cx="5216781" cy="1924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2"/>
                </a:lnSpc>
              </a:pPr>
              <a:r>
                <a:rPr lang="en-US" sz="2794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Sistem kontrol kendaraan berbasis iot (Tambunan &amp; Putra, 2019)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57830" y="5882331"/>
            <a:ext cx="4064331" cy="2995223"/>
            <a:chOff x="0" y="0"/>
            <a:chExt cx="1149029" cy="84678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9029" cy="846781"/>
            </a:xfrm>
            <a:custGeom>
              <a:avLst/>
              <a:gdLst/>
              <a:ahLst/>
              <a:cxnLst/>
              <a:rect l="l" t="t" r="r" b="b"/>
              <a:pathLst>
                <a:path w="1149029" h="846781">
                  <a:moveTo>
                    <a:pt x="0" y="0"/>
                  </a:moveTo>
                  <a:lnTo>
                    <a:pt x="1149029" y="0"/>
                  </a:lnTo>
                  <a:lnTo>
                    <a:pt x="1149029" y="846781"/>
                  </a:lnTo>
                  <a:lnTo>
                    <a:pt x="0" y="846781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149029" cy="884881"/>
            </a:xfrm>
            <a:prstGeom prst="rect">
              <a:avLst/>
            </a:prstGeom>
          </p:spPr>
          <p:txBody>
            <a:bodyPr lIns="47326" tIns="47326" rIns="47326" bIns="4732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933703" y="6372673"/>
            <a:ext cx="3912586" cy="194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2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Rancang Bangun Sistem Deteksi Posisi Sapi berbasis Smartphone (Widodo, n.d.)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65838" y="5882331"/>
            <a:ext cx="4064331" cy="2995223"/>
            <a:chOff x="0" y="0"/>
            <a:chExt cx="1149029" cy="84678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9029" cy="846781"/>
            </a:xfrm>
            <a:custGeom>
              <a:avLst/>
              <a:gdLst/>
              <a:ahLst/>
              <a:cxnLst/>
              <a:rect l="l" t="t" r="r" b="b"/>
              <a:pathLst>
                <a:path w="1149029" h="846781">
                  <a:moveTo>
                    <a:pt x="0" y="0"/>
                  </a:moveTo>
                  <a:lnTo>
                    <a:pt x="1149029" y="0"/>
                  </a:lnTo>
                  <a:lnTo>
                    <a:pt x="1149029" y="846781"/>
                  </a:lnTo>
                  <a:lnTo>
                    <a:pt x="0" y="846781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149029" cy="884881"/>
            </a:xfrm>
            <a:prstGeom prst="rect">
              <a:avLst/>
            </a:prstGeom>
          </p:spPr>
          <p:txBody>
            <a:bodyPr lIns="47326" tIns="47326" rIns="47326" bIns="4732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441711" y="6616695"/>
            <a:ext cx="3912586" cy="145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2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Animal Tracking Berbasis Internet of Things (Arta et al., 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68736" y="7312653"/>
            <a:ext cx="4567570" cy="4567570"/>
          </a:xfrm>
          <a:custGeom>
            <a:avLst/>
            <a:gdLst/>
            <a:ahLst/>
            <a:cxnLst/>
            <a:rect l="l" t="t" r="r" b="b"/>
            <a:pathLst>
              <a:path w="4567570" h="4567570">
                <a:moveTo>
                  <a:pt x="0" y="0"/>
                </a:moveTo>
                <a:lnTo>
                  <a:pt x="4567569" y="0"/>
                </a:lnTo>
                <a:lnTo>
                  <a:pt x="4567569" y="4567570"/>
                </a:lnTo>
                <a:lnTo>
                  <a:pt x="0" y="4567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620519">
            <a:off x="15344460" y="-725042"/>
            <a:ext cx="2439080" cy="4207555"/>
          </a:xfrm>
          <a:custGeom>
            <a:avLst/>
            <a:gdLst/>
            <a:ahLst/>
            <a:cxnLst/>
            <a:rect l="l" t="t" r="r" b="b"/>
            <a:pathLst>
              <a:path w="2439080" h="4207555">
                <a:moveTo>
                  <a:pt x="0" y="0"/>
                </a:moveTo>
                <a:lnTo>
                  <a:pt x="2439080" y="0"/>
                </a:lnTo>
                <a:lnTo>
                  <a:pt x="2439080" y="4207555"/>
                </a:lnTo>
                <a:lnTo>
                  <a:pt x="0" y="420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3253886" y="8877554"/>
            <a:ext cx="962217" cy="962217"/>
          </a:xfrm>
          <a:custGeom>
            <a:avLst/>
            <a:gdLst/>
            <a:ahLst/>
            <a:cxnLst/>
            <a:rect l="l" t="t" r="r" b="b"/>
            <a:pathLst>
              <a:path w="962217" h="962217">
                <a:moveTo>
                  <a:pt x="0" y="0"/>
                </a:moveTo>
                <a:lnTo>
                  <a:pt x="962217" y="0"/>
                </a:lnTo>
                <a:lnTo>
                  <a:pt x="962217" y="962217"/>
                </a:lnTo>
                <a:lnTo>
                  <a:pt x="0" y="962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149357" y="8573149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1" y="0"/>
                </a:lnTo>
                <a:lnTo>
                  <a:pt x="456551" y="456551"/>
                </a:lnTo>
                <a:lnTo>
                  <a:pt x="0" y="4565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936150" y="1939801"/>
            <a:ext cx="8415700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 Penelitian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3426369"/>
            <a:ext cx="3745818" cy="1872909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49149" tIns="49149" rIns="49149" bIns="49149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47985" y="3426369"/>
            <a:ext cx="3745818" cy="1872909"/>
            <a:chOff x="0" y="0"/>
            <a:chExt cx="81280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49149" tIns="49149" rIns="49149" bIns="49149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67271" y="3426369"/>
            <a:ext cx="3745818" cy="1872909"/>
            <a:chOff x="0" y="0"/>
            <a:chExt cx="8128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49149" tIns="49149" rIns="49149" bIns="49149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37474" y="3934580"/>
            <a:ext cx="2157691" cy="91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35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</a:t>
            </a:r>
          </a:p>
          <a:p>
            <a:pPr algn="ctr">
              <a:lnSpc>
                <a:spcPts val="3512"/>
              </a:lnSpc>
            </a:pPr>
            <a:r>
              <a:rPr lang="en-US" sz="35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68775" y="3934580"/>
            <a:ext cx="2098495" cy="91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35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</a:t>
            </a:r>
          </a:p>
          <a:p>
            <a:pPr algn="ctr">
              <a:lnSpc>
                <a:spcPts val="3512"/>
              </a:lnSpc>
            </a:pPr>
            <a:r>
              <a:rPr lang="en-US" sz="35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31429" y="3934580"/>
            <a:ext cx="1975053" cy="91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35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</a:t>
            </a:r>
          </a:p>
          <a:p>
            <a:pPr algn="ctr">
              <a:lnSpc>
                <a:spcPts val="3512"/>
              </a:lnSpc>
            </a:pPr>
            <a:r>
              <a:rPr lang="en-US" sz="35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386556" y="3426369"/>
            <a:ext cx="3745818" cy="1872909"/>
            <a:chOff x="0" y="0"/>
            <a:chExt cx="4994424" cy="249721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994424" cy="2497212"/>
              <a:chOff x="0" y="0"/>
              <a:chExt cx="812800" cy="406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A295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lIns="49149" tIns="49149" rIns="49149" bIns="4914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359476" y="655278"/>
              <a:ext cx="2774419" cy="1243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2"/>
                </a:lnSpc>
              </a:pPr>
              <a:r>
                <a:rPr lang="en-US" sz="3512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Proses</a:t>
              </a:r>
            </a:p>
            <a:p>
              <a:pPr algn="ctr">
                <a:lnSpc>
                  <a:spcPts val="3512"/>
                </a:lnSpc>
              </a:pPr>
              <a:r>
                <a:rPr lang="en-US" sz="3512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445845" y="5740411"/>
            <a:ext cx="2421576" cy="4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80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 Satu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11266" y="5740411"/>
            <a:ext cx="2421576" cy="4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80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 Dua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08279" y="5740411"/>
            <a:ext cx="2421576" cy="4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80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Proses Tiga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5845" y="6278690"/>
            <a:ext cx="2931788" cy="86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47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Analisis kebutuhan dan perancangan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11266" y="6278690"/>
            <a:ext cx="2979617" cy="130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47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Perancangan software dan hardware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08279" y="6278690"/>
            <a:ext cx="3062734" cy="42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47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Pengujian Alat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048914" y="5797561"/>
            <a:ext cx="3083460" cy="906388"/>
            <a:chOff x="0" y="0"/>
            <a:chExt cx="4111280" cy="1208517"/>
          </a:xfrm>
        </p:grpSpPr>
        <p:sp>
          <p:nvSpPr>
            <p:cNvPr id="39" name="TextBox 39"/>
            <p:cNvSpPr txBox="1"/>
            <p:nvPr/>
          </p:nvSpPr>
          <p:spPr>
            <a:xfrm>
              <a:off x="0" y="-57150"/>
              <a:ext cx="3543491" cy="622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31"/>
                </a:lnSpc>
              </a:pPr>
              <a:r>
                <a:rPr lang="en-US" sz="2808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Proses Empat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657380"/>
              <a:ext cx="4111280" cy="551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9"/>
                </a:lnSpc>
              </a:pPr>
              <a:r>
                <a:rPr lang="en-US" sz="2477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Pengujian Sistem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43" name="TextBox 43"/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3508638" y="3428834"/>
            <a:ext cx="3745818" cy="1872909"/>
            <a:chOff x="0" y="0"/>
            <a:chExt cx="4994424" cy="2497212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4994424" cy="2497212"/>
              <a:chOff x="0" y="0"/>
              <a:chExt cx="812800" cy="4064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A295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lIns="49149" tIns="49149" rIns="49149" bIns="4914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359476" y="655278"/>
              <a:ext cx="2774419" cy="1243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2"/>
                </a:lnSpc>
              </a:pPr>
              <a:r>
                <a:rPr lang="en-US" sz="3512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Proses</a:t>
              </a:r>
            </a:p>
            <a:p>
              <a:pPr algn="ctr">
                <a:lnSpc>
                  <a:spcPts val="3512"/>
                </a:lnSpc>
              </a:pPr>
              <a:r>
                <a:rPr lang="en-US" sz="3512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5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208574" y="5797561"/>
            <a:ext cx="3083460" cy="906388"/>
            <a:chOff x="0" y="0"/>
            <a:chExt cx="4111280" cy="1208517"/>
          </a:xfrm>
        </p:grpSpPr>
        <p:sp>
          <p:nvSpPr>
            <p:cNvPr id="51" name="TextBox 51"/>
            <p:cNvSpPr txBox="1"/>
            <p:nvPr/>
          </p:nvSpPr>
          <p:spPr>
            <a:xfrm>
              <a:off x="0" y="-57150"/>
              <a:ext cx="3543491" cy="622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31"/>
                </a:lnSpc>
              </a:pPr>
              <a:r>
                <a:rPr lang="en-US" sz="2808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Proses Empat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657380"/>
              <a:ext cx="4111280" cy="551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9"/>
                </a:lnSpc>
              </a:pPr>
              <a:r>
                <a:rPr lang="en-US" sz="2477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Evaluasi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032" y="8227689"/>
            <a:ext cx="3304243" cy="3304243"/>
          </a:xfrm>
          <a:custGeom>
            <a:avLst/>
            <a:gdLst/>
            <a:ahLst/>
            <a:cxnLst/>
            <a:rect l="l" t="t" r="r" b="b"/>
            <a:pathLst>
              <a:path w="3304243" h="3304243">
                <a:moveTo>
                  <a:pt x="0" y="0"/>
                </a:moveTo>
                <a:lnTo>
                  <a:pt x="3304244" y="0"/>
                </a:lnTo>
                <a:lnTo>
                  <a:pt x="3304244" y="3304243"/>
                </a:lnTo>
                <a:lnTo>
                  <a:pt x="0" y="330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58041" y="6537552"/>
            <a:ext cx="3380275" cy="3380275"/>
          </a:xfrm>
          <a:custGeom>
            <a:avLst/>
            <a:gdLst/>
            <a:ahLst/>
            <a:cxnLst/>
            <a:rect l="l" t="t" r="r" b="b"/>
            <a:pathLst>
              <a:path w="3380275" h="3380275">
                <a:moveTo>
                  <a:pt x="0" y="0"/>
                </a:moveTo>
                <a:lnTo>
                  <a:pt x="3380275" y="0"/>
                </a:lnTo>
                <a:lnTo>
                  <a:pt x="3380275" y="3380275"/>
                </a:lnTo>
                <a:lnTo>
                  <a:pt x="0" y="338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4380637" y="-611753"/>
            <a:ext cx="4271475" cy="3459895"/>
          </a:xfrm>
          <a:custGeom>
            <a:avLst/>
            <a:gdLst/>
            <a:ahLst/>
            <a:cxnLst/>
            <a:rect l="l" t="t" r="r" b="b"/>
            <a:pathLst>
              <a:path w="4271475" h="3459895">
                <a:moveTo>
                  <a:pt x="0" y="3459895"/>
                </a:moveTo>
                <a:lnTo>
                  <a:pt x="4271475" y="3459895"/>
                </a:lnTo>
                <a:lnTo>
                  <a:pt x="4271475" y="0"/>
                </a:lnTo>
                <a:lnTo>
                  <a:pt x="0" y="0"/>
                </a:lnTo>
                <a:lnTo>
                  <a:pt x="0" y="345989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564000" y="8834437"/>
            <a:ext cx="955170" cy="75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6368649" y="2629502"/>
            <a:ext cx="1150521" cy="1006706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807419" y="1606878"/>
            <a:ext cx="10673157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</a:t>
            </a:r>
            <a:r>
              <a:rPr lang="en-US" sz="7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</a:t>
            </a:r>
            <a:r>
              <a:rPr lang="en-US" sz="7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yang </a:t>
            </a:r>
            <a:r>
              <a:rPr lang="en-US" sz="7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diharapkan</a:t>
            </a:r>
            <a:endParaRPr lang="en-US" sz="75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FA961B0-DF43-922E-BE16-EC5465363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972111"/>
              </p:ext>
            </p:extLst>
          </p:nvPr>
        </p:nvGraphicFramePr>
        <p:xfrm>
          <a:off x="3047997" y="4978318"/>
          <a:ext cx="12192000" cy="296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2">
                  <a:extLst>
                    <a:ext uri="{9D8B030D-6E8A-4147-A177-3AD203B41FA5}">
                      <a16:colId xmlns:a16="http://schemas.microsoft.com/office/drawing/2014/main" val="29364871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736056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331634665"/>
                    </a:ext>
                  </a:extLst>
                </a:gridCol>
                <a:gridCol w="4267198">
                  <a:extLst>
                    <a:ext uri="{9D8B030D-6E8A-4147-A177-3AD203B41FA5}">
                      <a16:colId xmlns:a16="http://schemas.microsoft.com/office/drawing/2014/main" val="505686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Komponen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Pengujian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Hasil yang </a:t>
                      </a:r>
                      <a:r>
                        <a:rPr lang="en-US" dirty="0" err="1"/>
                        <a:t>diharapkan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33797"/>
                  </a:ext>
                </a:extLst>
              </a:tr>
              <a:tr h="70789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 GPS NEO-6M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Melakukan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pengujian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pada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alam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bebas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ladang yang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sudah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ditentukan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Telegram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dapat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menampilkan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hasil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langitude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dan latitude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adapun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link yang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terhubung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langsung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google maps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626222"/>
                  </a:ext>
                </a:extLst>
              </a:tr>
              <a:tr h="90601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 ESP32-CAM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Melakukan pengujian tampilan visualisasi gambar 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Telegram dapat menampilkan visualisasi gambar posisi hewan ternak di alam bebas</a:t>
                      </a:r>
                      <a:endParaRPr lang="en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542538"/>
                  </a:ext>
                </a:extLst>
              </a:tr>
            </a:tbl>
          </a:graphicData>
        </a:graphic>
      </p:graphicFrame>
      <p:grpSp>
        <p:nvGrpSpPr>
          <p:cNvPr id="23" name="Group 42">
            <a:extLst>
              <a:ext uri="{FF2B5EF4-FFF2-40B4-BE49-F238E27FC236}">
                <a16:creationId xmlns:a16="http://schemas.microsoft.com/office/drawing/2014/main" id="{91AAE21F-1515-B9CB-4DEB-2C8A14C345CD}"/>
              </a:ext>
            </a:extLst>
          </p:cNvPr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24" name="TextBox 43">
              <a:extLst>
                <a:ext uri="{FF2B5EF4-FFF2-40B4-BE49-F238E27FC236}">
                  <a16:creationId xmlns:a16="http://schemas.microsoft.com/office/drawing/2014/main" id="{DBA8597F-9172-12D3-B340-F9E7A1C475EF}"/>
                </a:ext>
              </a:extLst>
            </p:cNvPr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DA54AC9D-54F6-7C96-9FD4-DFC2CEE0A76F}"/>
                </a:ext>
              </a:extLst>
            </p:cNvPr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7C05-E249-5DF0-B97E-7D390CBD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850063-8612-EDBD-06EC-AB5275CAC201}"/>
              </a:ext>
            </a:extLst>
          </p:cNvPr>
          <p:cNvSpPr/>
          <p:nvPr/>
        </p:nvSpPr>
        <p:spPr>
          <a:xfrm>
            <a:off x="777032" y="8227689"/>
            <a:ext cx="3304243" cy="3304243"/>
          </a:xfrm>
          <a:custGeom>
            <a:avLst/>
            <a:gdLst/>
            <a:ahLst/>
            <a:cxnLst/>
            <a:rect l="l" t="t" r="r" b="b"/>
            <a:pathLst>
              <a:path w="3304243" h="3304243">
                <a:moveTo>
                  <a:pt x="0" y="0"/>
                </a:moveTo>
                <a:lnTo>
                  <a:pt x="3304244" y="0"/>
                </a:lnTo>
                <a:lnTo>
                  <a:pt x="3304244" y="3304243"/>
                </a:lnTo>
                <a:lnTo>
                  <a:pt x="0" y="330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D26BB9-B2CD-BD06-58A6-DE6E27588ADB}"/>
              </a:ext>
            </a:extLst>
          </p:cNvPr>
          <p:cNvSpPr/>
          <p:nvPr/>
        </p:nvSpPr>
        <p:spPr>
          <a:xfrm>
            <a:off x="-1058041" y="6537552"/>
            <a:ext cx="3380275" cy="3380275"/>
          </a:xfrm>
          <a:custGeom>
            <a:avLst/>
            <a:gdLst/>
            <a:ahLst/>
            <a:cxnLst/>
            <a:rect l="l" t="t" r="r" b="b"/>
            <a:pathLst>
              <a:path w="3380275" h="3380275">
                <a:moveTo>
                  <a:pt x="0" y="0"/>
                </a:moveTo>
                <a:lnTo>
                  <a:pt x="3380275" y="0"/>
                </a:lnTo>
                <a:lnTo>
                  <a:pt x="3380275" y="3380275"/>
                </a:lnTo>
                <a:lnTo>
                  <a:pt x="0" y="338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87B1FB6-C594-BAFB-17CF-C57B78C82FB5}"/>
              </a:ext>
            </a:extLst>
          </p:cNvPr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E55BCB-B142-B460-EC5B-1DB5877CAEBC}"/>
                </a:ext>
              </a:extLst>
            </p:cNvPr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341779D-21F9-ABFE-68B7-FF93E437F689}"/>
                </a:ext>
              </a:extLst>
            </p:cNvPr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CAE454A-DA5A-F515-F91A-5CCD1FD670A9}"/>
              </a:ext>
            </a:extLst>
          </p:cNvPr>
          <p:cNvSpPr/>
          <p:nvPr/>
        </p:nvSpPr>
        <p:spPr>
          <a:xfrm flipV="1">
            <a:off x="14380637" y="-611753"/>
            <a:ext cx="4271475" cy="3459895"/>
          </a:xfrm>
          <a:custGeom>
            <a:avLst/>
            <a:gdLst/>
            <a:ahLst/>
            <a:cxnLst/>
            <a:rect l="l" t="t" r="r" b="b"/>
            <a:pathLst>
              <a:path w="4271475" h="3459895">
                <a:moveTo>
                  <a:pt x="0" y="3459895"/>
                </a:moveTo>
                <a:lnTo>
                  <a:pt x="4271475" y="3459895"/>
                </a:lnTo>
                <a:lnTo>
                  <a:pt x="4271475" y="0"/>
                </a:lnTo>
                <a:lnTo>
                  <a:pt x="0" y="0"/>
                </a:lnTo>
                <a:lnTo>
                  <a:pt x="0" y="345989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881ABEC-79A1-474E-3C3C-3BD4398B650F}"/>
              </a:ext>
            </a:extLst>
          </p:cNvPr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F258937-C6A6-A67F-A169-5B4C52F82F5B}"/>
                </a:ext>
              </a:extLst>
            </p:cNvPr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0EEC837-D1D0-7DC4-2DDB-6C0FB1C4E05C}"/>
                </a:ext>
              </a:extLst>
            </p:cNvPr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36ED873B-782D-754A-3E6F-08DEC56D86CF}"/>
              </a:ext>
            </a:extLst>
          </p:cNvPr>
          <p:cNvSpPr txBox="1"/>
          <p:nvPr/>
        </p:nvSpPr>
        <p:spPr>
          <a:xfrm>
            <a:off x="16564000" y="8834437"/>
            <a:ext cx="955170" cy="75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09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8DBDE39-66C9-6044-37F4-16AE25F14D7A}"/>
              </a:ext>
            </a:extLst>
          </p:cNvPr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30C3FBA-69FE-AD51-595F-FD5C0EF84DAD}"/>
              </a:ext>
            </a:extLst>
          </p:cNvPr>
          <p:cNvGrpSpPr/>
          <p:nvPr/>
        </p:nvGrpSpPr>
        <p:grpSpPr>
          <a:xfrm>
            <a:off x="16368649" y="2629502"/>
            <a:ext cx="1150521" cy="1006706"/>
            <a:chOff x="0" y="0"/>
            <a:chExt cx="812800" cy="7112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2480DFF-5589-979B-AD31-3361888593C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AE4ACC4-A5ED-C7D7-5094-A0AC831D367F}"/>
                </a:ext>
              </a:extLst>
            </p:cNvPr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515F9734-50D0-D9B1-54EA-B5BD71E3EFBC}"/>
              </a:ext>
            </a:extLst>
          </p:cNvPr>
          <p:cNvSpPr txBox="1"/>
          <p:nvPr/>
        </p:nvSpPr>
        <p:spPr>
          <a:xfrm>
            <a:off x="3807419" y="1606878"/>
            <a:ext cx="10673157" cy="125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Daftar Pustaka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4DD0D2C-1649-460E-8C0B-0459D8000FAC}"/>
              </a:ext>
            </a:extLst>
          </p:cNvPr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grpSp>
        <p:nvGrpSpPr>
          <p:cNvPr id="23" name="Group 42">
            <a:extLst>
              <a:ext uri="{FF2B5EF4-FFF2-40B4-BE49-F238E27FC236}">
                <a16:creationId xmlns:a16="http://schemas.microsoft.com/office/drawing/2014/main" id="{C3A8BC23-AE62-7B75-453B-DED73FA3C2A5}"/>
              </a:ext>
            </a:extLst>
          </p:cNvPr>
          <p:cNvGrpSpPr/>
          <p:nvPr/>
        </p:nvGrpSpPr>
        <p:grpSpPr>
          <a:xfrm>
            <a:off x="397655" y="555577"/>
            <a:ext cx="4968185" cy="862728"/>
            <a:chOff x="0" y="0"/>
            <a:chExt cx="6624247" cy="1150304"/>
          </a:xfrm>
        </p:grpSpPr>
        <p:sp>
          <p:nvSpPr>
            <p:cNvPr id="24" name="TextBox 43">
              <a:extLst>
                <a:ext uri="{FF2B5EF4-FFF2-40B4-BE49-F238E27FC236}">
                  <a16:creationId xmlns:a16="http://schemas.microsoft.com/office/drawing/2014/main" id="{7FC67542-9ED6-77EF-CE7F-C6E050D7F6A4}"/>
                </a:ext>
              </a:extLst>
            </p:cNvPr>
            <p:cNvSpPr txBox="1"/>
            <p:nvPr/>
          </p:nvSpPr>
          <p:spPr>
            <a:xfrm>
              <a:off x="1397586" y="16352"/>
              <a:ext cx="5226661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140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UNIVERSITAS MUHAMMADIYAH BIMA</a:t>
              </a:r>
            </a:p>
          </p:txBody>
        </p:sp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9C8DF164-0AC2-9C29-AA56-3874B0692444}"/>
                </a:ext>
              </a:extLst>
            </p:cNvPr>
            <p:cNvSpPr/>
            <p:nvPr/>
          </p:nvSpPr>
          <p:spPr>
            <a:xfrm>
              <a:off x="0" y="0"/>
              <a:ext cx="1219786" cy="1150304"/>
            </a:xfrm>
            <a:custGeom>
              <a:avLst/>
              <a:gdLst/>
              <a:ahLst/>
              <a:cxnLst/>
              <a:rect l="l" t="t" r="r" b="b"/>
              <a:pathLst>
                <a:path w="1219786" h="1150304">
                  <a:moveTo>
                    <a:pt x="0" y="0"/>
                  </a:moveTo>
                  <a:lnTo>
                    <a:pt x="1219786" y="0"/>
                  </a:lnTo>
                  <a:lnTo>
                    <a:pt x="1219786" y="1150304"/>
                  </a:lnTo>
                  <a:lnTo>
                    <a:pt x="0" y="115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1" name="TextBox 16">
            <a:extLst>
              <a:ext uri="{FF2B5EF4-FFF2-40B4-BE49-F238E27FC236}">
                <a16:creationId xmlns:a16="http://schemas.microsoft.com/office/drawing/2014/main" id="{46DFBB1B-EB60-40BC-9DEF-56F4C1EB2BD8}"/>
              </a:ext>
            </a:extLst>
          </p:cNvPr>
          <p:cNvSpPr txBox="1"/>
          <p:nvPr/>
        </p:nvSpPr>
        <p:spPr>
          <a:xfrm>
            <a:off x="2542683" y="3009900"/>
            <a:ext cx="13202634" cy="5690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Angriawan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R., &amp; Anugraha, N. (2019).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Pelacak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Lokasi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Sapi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dengan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Komunikasi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LoRa. Inspiration: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Jurnal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Teknologi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Informasi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Komunikasi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9(1), 33. 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9"/>
              </a:rPr>
              <a:t>https://doi.org/10.35585/inspir.v9i1.2494</a:t>
            </a:r>
            <a:endParaRPr lang="en-US" sz="20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Arta, I. K. C.,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Febriyanto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A.,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Nugraha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I. B. M. H. A.,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Widharma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I. G. S., &amp; Purnama, I. B. I. (2022). Animal Tracking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Berbasis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Internet of Things.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Majalah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Ilmiah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Teknologi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Elektro, 21(1), 7. 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0"/>
              </a:rPr>
              <a:t>https://doi.org/10.24843/MITE.2022.v21i01.P02</a:t>
            </a:r>
            <a:endParaRPr lang="en-US" sz="20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Tambunan, L., &amp; Putra, D. D. (2019). SISTEM KONTROL KENDARAAN BERBASIS IOT. JSR :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Jaringan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Informasi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Robotik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3(1), 152–160. 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1"/>
              </a:rPr>
              <a:t>https://doi.org/10.58486/jsr.v3i1.41</a:t>
            </a:r>
            <a:endParaRPr lang="en-US" sz="20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Wibowo, G. H., Ayatullah, M. D., &amp;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Prasetyo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J. A. (2019). SISTEM CERDAS PEMANTAU HEWAN TERNAK PADA ALAM BEBAS BERBASIS INTERNET OF THINGS (IOT). JURNAL ELTEK, 17(2), 18. 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2"/>
              </a:rPr>
              <a:t>https://doi.org/10.33795/eltek.v17i2.188</a:t>
            </a:r>
            <a:endParaRPr lang="en-US" sz="20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Wolfert, S., Ge, L.,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Verdouw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C., &amp; </a:t>
            </a:r>
            <a:r>
              <a:rPr lang="en-US" sz="20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Bogaardt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M.-J. (2017). Big Data in Smart Farming – A review. Agricultural Systems, 153, 69–80. </a:t>
            </a:r>
            <a:r>
              <a:rPr lang="en-US" sz="20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3"/>
              </a:rPr>
              <a:t>https://doi.org/10.1016/j.agsy.2017.01.023</a:t>
            </a:r>
            <a:endParaRPr lang="en-US" sz="20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62662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5341" y="1679079"/>
            <a:ext cx="14717318" cy="6928841"/>
            <a:chOff x="0" y="0"/>
            <a:chExt cx="3876166" cy="1824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76166" cy="1824880"/>
            </a:xfrm>
            <a:custGeom>
              <a:avLst/>
              <a:gdLst/>
              <a:ahLst/>
              <a:cxnLst/>
              <a:rect l="l" t="t" r="r" b="b"/>
              <a:pathLst>
                <a:path w="3876166" h="1824880">
                  <a:moveTo>
                    <a:pt x="0" y="0"/>
                  </a:moveTo>
                  <a:lnTo>
                    <a:pt x="3876166" y="0"/>
                  </a:lnTo>
                  <a:lnTo>
                    <a:pt x="3876166" y="1824880"/>
                  </a:lnTo>
                  <a:lnTo>
                    <a:pt x="0" y="182488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76166" cy="1862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061903" y="-1566138"/>
            <a:ext cx="4761674" cy="4761674"/>
          </a:xfrm>
          <a:custGeom>
            <a:avLst/>
            <a:gdLst/>
            <a:ahLst/>
            <a:cxnLst/>
            <a:rect l="l" t="t" r="r" b="b"/>
            <a:pathLst>
              <a:path w="4761674" h="4761674">
                <a:moveTo>
                  <a:pt x="0" y="0"/>
                </a:moveTo>
                <a:lnTo>
                  <a:pt x="4761674" y="0"/>
                </a:lnTo>
                <a:lnTo>
                  <a:pt x="4761674" y="4761675"/>
                </a:lnTo>
                <a:lnTo>
                  <a:pt x="0" y="4761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442740" y="2842069"/>
            <a:ext cx="1413018" cy="1236391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313694"/>
            <a:ext cx="1528376" cy="1528376"/>
          </a:xfrm>
          <a:custGeom>
            <a:avLst/>
            <a:gdLst/>
            <a:ahLst/>
            <a:cxnLst/>
            <a:rect l="l" t="t" r="r" b="b"/>
            <a:pathLst>
              <a:path w="1528376" h="1528376">
                <a:moveTo>
                  <a:pt x="0" y="0"/>
                </a:moveTo>
                <a:lnTo>
                  <a:pt x="1528376" y="0"/>
                </a:lnTo>
                <a:lnTo>
                  <a:pt x="1528376" y="1528375"/>
                </a:lnTo>
                <a:lnTo>
                  <a:pt x="0" y="152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4221" y="7272116"/>
            <a:ext cx="4777529" cy="4771073"/>
          </a:xfrm>
          <a:custGeom>
            <a:avLst/>
            <a:gdLst/>
            <a:ahLst/>
            <a:cxnLst/>
            <a:rect l="l" t="t" r="r" b="b"/>
            <a:pathLst>
              <a:path w="4777529" h="4771073">
                <a:moveTo>
                  <a:pt x="0" y="0"/>
                </a:moveTo>
                <a:lnTo>
                  <a:pt x="4777529" y="0"/>
                </a:lnTo>
                <a:lnTo>
                  <a:pt x="4777529" y="4771073"/>
                </a:lnTo>
                <a:lnTo>
                  <a:pt x="0" y="4771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86547" y="3908425"/>
            <a:ext cx="13514906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Terima Kasih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17571" y="7272116"/>
            <a:ext cx="1084179" cy="1084179"/>
          </a:xfrm>
          <a:custGeom>
            <a:avLst/>
            <a:gdLst/>
            <a:ahLst/>
            <a:cxnLst/>
            <a:rect l="l" t="t" r="r" b="b"/>
            <a:pathLst>
              <a:path w="1084179" h="1084179">
                <a:moveTo>
                  <a:pt x="0" y="0"/>
                </a:moveTo>
                <a:lnTo>
                  <a:pt x="1084179" y="0"/>
                </a:lnTo>
                <a:lnTo>
                  <a:pt x="1084179" y="1084179"/>
                </a:lnTo>
                <a:lnTo>
                  <a:pt x="0" y="1084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714</Words>
  <Application>Microsoft Office PowerPoint</Application>
  <PresentationFormat>Custom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Glacial Indifference Bold</vt:lpstr>
      <vt:lpstr>Glacial Indifference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Hijau minimalis formal seminar proposal presentasi</dc:title>
  <cp:lastModifiedBy>odi kiki</cp:lastModifiedBy>
  <cp:revision>3</cp:revision>
  <dcterms:created xsi:type="dcterms:W3CDTF">2006-08-16T00:00:00Z</dcterms:created>
  <dcterms:modified xsi:type="dcterms:W3CDTF">2025-12-13T12:05:02Z</dcterms:modified>
  <dc:identifier>DAG7AXRl52A</dc:identifier>
</cp:coreProperties>
</file>